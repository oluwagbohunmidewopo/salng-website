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7" r:id="rId3"/>
    <p:sldId id="279" r:id="rId4"/>
    <p:sldId id="280" r:id="rId5"/>
    <p:sldId id="258" r:id="rId6"/>
    <p:sldId id="281" r:id="rId7"/>
    <p:sldId id="259" r:id="rId8"/>
    <p:sldId id="262" r:id="rId9"/>
    <p:sldId id="263" r:id="rId10"/>
    <p:sldId id="282" r:id="rId11"/>
    <p:sldId id="283" r:id="rId12"/>
    <p:sldId id="267" r:id="rId13"/>
    <p:sldId id="268" r:id="rId14"/>
    <p:sldId id="284" r:id="rId15"/>
    <p:sldId id="269" r:id="rId16"/>
    <p:sldId id="270" r:id="rId17"/>
    <p:sldId id="285" r:id="rId18"/>
    <p:sldId id="273" r:id="rId19"/>
    <p:sldId id="286" r:id="rId20"/>
    <p:sldId id="287" r:id="rId21"/>
    <p:sldId id="288" r:id="rId22"/>
    <p:sldId id="289" r:id="rId23"/>
    <p:sldId id="290" r:id="rId24"/>
    <p:sldId id="291" r:id="rId25"/>
    <p:sldId id="292" r:id="rId26"/>
    <p:sldId id="293" r:id="rId27"/>
    <p:sldId id="274" r:id="rId28"/>
    <p:sldId id="294" r:id="rId29"/>
    <p:sldId id="295" r:id="rId30"/>
    <p:sldId id="296" r:id="rId31"/>
    <p:sldId id="297" r:id="rId32"/>
    <p:sldId id="298" r:id="rId33"/>
    <p:sldId id="276" r:id="rId34"/>
    <p:sldId id="27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404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6460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9456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7531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9508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4159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149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241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6171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59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9703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8009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58743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3236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347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0344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5/17/2023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104688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pubmed.ncbi.nlm.nih.gov/34411554/" TargetMode="External"/><Relationship Id="rId3" Type="http://schemas.openxmlformats.org/officeDocument/2006/relationships/hyperlink" Target="https://www.who.int/news-room/fact-sheets/detail/diabetes" TargetMode="External"/><Relationship Id="rId7" Type="http://schemas.openxmlformats.org/officeDocument/2006/relationships/hyperlink" Target="https://www.uptodate.com/contents/management-of-diabetic-neuropathy" TargetMode="External"/><Relationship Id="rId2" Type="http://schemas.openxmlformats.org/officeDocument/2006/relationships/hyperlink" Target="https://www.cdc.gov/diabetes/basics/diabetes.html" TargetMode="External"/><Relationship Id="rId1" Type="http://schemas.openxmlformats.org/officeDocument/2006/relationships/slideLayout" Target="../slideLayouts/slideLayout2.xml"/><Relationship Id="rId6" Type="http://schemas.openxmlformats.org/officeDocument/2006/relationships/hyperlink" Target="https://diabetesjournals.org/clinical/article/23/1/9/1269/Management-of-Diabetic-Peripheral-Neuropathy" TargetMode="External"/><Relationship Id="rId5" Type="http://schemas.openxmlformats.org/officeDocument/2006/relationships/hyperlink" Target="https://www.physio-pedia.com/Diabetic_Neuropathy" TargetMode="External"/><Relationship Id="rId4" Type="http://schemas.openxmlformats.org/officeDocument/2006/relationships/hyperlink" Target="https://www.mintstl.com/blog/how-to-spot-the-signs-of-a-diabetic-ulcer-on-the-foot#:~:text=A%20foot%20ulcer%20looks%20like,an%20indication%20of%20another%20proble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0207" y="176348"/>
            <a:ext cx="8915399" cy="2262781"/>
          </a:xfrm>
        </p:spPr>
        <p:txBody>
          <a:bodyPr>
            <a:normAutofit/>
          </a:bodyPr>
          <a:lstStyle/>
          <a:p>
            <a:r>
              <a:rPr lang="en-US" sz="6600" dirty="0" smtClean="0"/>
              <a:t>COMPLICATIONS OF </a:t>
            </a:r>
            <a:r>
              <a:rPr lang="en-US" sz="6600" dirty="0" smtClean="0"/>
              <a:t>DIABETES</a:t>
            </a:r>
            <a:endParaRPr lang="en-US" sz="6600" dirty="0"/>
          </a:p>
        </p:txBody>
      </p:sp>
      <p:sp>
        <p:nvSpPr>
          <p:cNvPr id="3" name="Subtitle 2"/>
          <p:cNvSpPr>
            <a:spLocks noGrp="1"/>
          </p:cNvSpPr>
          <p:nvPr>
            <p:ph type="subTitle" idx="1"/>
          </p:nvPr>
        </p:nvSpPr>
        <p:spPr>
          <a:xfrm>
            <a:off x="6753497" y="2543631"/>
            <a:ext cx="4542109" cy="1126283"/>
          </a:xfrm>
        </p:spPr>
        <p:txBody>
          <a:bodyPr>
            <a:normAutofit/>
          </a:bodyPr>
          <a:lstStyle/>
          <a:p>
            <a:r>
              <a:rPr lang="en-US" sz="4400" dirty="0" smtClean="0"/>
              <a:t>GROUP 1</a:t>
            </a:r>
            <a:endParaRPr lang="en-US" sz="4400" dirty="0"/>
          </a:p>
        </p:txBody>
      </p:sp>
    </p:spTree>
    <p:extLst>
      <p:ext uri="{BB962C8B-B14F-4D97-AF65-F5344CB8AC3E}">
        <p14:creationId xmlns:p14="http://schemas.microsoft.com/office/powerpoint/2010/main" val="403570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4102" y="101595"/>
            <a:ext cx="6942961" cy="1113252"/>
          </a:xfrm>
        </p:spPr>
        <p:txBody>
          <a:bodyPr>
            <a:normAutofit/>
          </a:bodyPr>
          <a:lstStyle/>
          <a:p>
            <a:r>
              <a:rPr lang="en-US" sz="6000" dirty="0" smtClean="0"/>
              <a:t>GROUP MEMBERS</a:t>
            </a:r>
            <a:endParaRPr lang="en-US" sz="6000" dirty="0"/>
          </a:p>
        </p:txBody>
      </p:sp>
      <p:sp>
        <p:nvSpPr>
          <p:cNvPr id="6" name="Content Placeholder 5"/>
          <p:cNvSpPr>
            <a:spLocks noGrp="1"/>
          </p:cNvSpPr>
          <p:nvPr>
            <p:ph idx="1"/>
          </p:nvPr>
        </p:nvSpPr>
        <p:spPr>
          <a:xfrm>
            <a:off x="2214101" y="1214847"/>
            <a:ext cx="9816789" cy="5499462"/>
          </a:xfrm>
        </p:spPr>
        <p:txBody>
          <a:bodyPr>
            <a:normAutofit lnSpcReduction="10000"/>
          </a:bodyPr>
          <a:lstStyle/>
          <a:p>
            <a:r>
              <a:rPr lang="en-US" sz="2000" dirty="0" smtClean="0"/>
              <a:t>AGBEKA LESLEY OBAKORE</a:t>
            </a:r>
          </a:p>
          <a:p>
            <a:r>
              <a:rPr lang="en-US" sz="2000" dirty="0" smtClean="0"/>
              <a:t>ILIYA FAVOUR FENHAS</a:t>
            </a:r>
          </a:p>
          <a:p>
            <a:r>
              <a:rPr lang="en-US" sz="2000" dirty="0" smtClean="0"/>
              <a:t>AFOLABI PRECIOUS INIOLUWA</a:t>
            </a:r>
          </a:p>
          <a:p>
            <a:r>
              <a:rPr lang="en-US" sz="2000" dirty="0" smtClean="0"/>
              <a:t>OLUSEGUN IFEOLUWA JESSICA</a:t>
            </a:r>
          </a:p>
          <a:p>
            <a:r>
              <a:rPr lang="en-US" sz="2000" dirty="0" smtClean="0"/>
              <a:t>ABIROH ANITA</a:t>
            </a:r>
          </a:p>
          <a:p>
            <a:r>
              <a:rPr lang="en-US" sz="2000" dirty="0" smtClean="0"/>
              <a:t>ADENUGHAR CYNTHIA</a:t>
            </a:r>
          </a:p>
          <a:p>
            <a:r>
              <a:rPr lang="en-US" sz="2000" dirty="0" smtClean="0"/>
              <a:t>AGHASILI VIVIAN CHIDINMA</a:t>
            </a:r>
          </a:p>
          <a:p>
            <a:r>
              <a:rPr lang="en-US" sz="2000" dirty="0" smtClean="0"/>
              <a:t>AKAH CHINEMEREM</a:t>
            </a:r>
          </a:p>
          <a:p>
            <a:r>
              <a:rPr lang="en-US" sz="2000" dirty="0" smtClean="0"/>
              <a:t>NWAFOR JACHIMMA</a:t>
            </a:r>
          </a:p>
          <a:p>
            <a:r>
              <a:rPr lang="en-US" sz="2000" dirty="0" smtClean="0"/>
              <a:t>OFOKANSI FAVOUR</a:t>
            </a:r>
          </a:p>
          <a:p>
            <a:r>
              <a:rPr lang="en-US" sz="2000" dirty="0" smtClean="0"/>
              <a:t>OHWAVWORHUA EMMANUELLA</a:t>
            </a:r>
          </a:p>
          <a:p>
            <a:r>
              <a:rPr lang="en-US" sz="2000" dirty="0" smtClean="0"/>
              <a:t>OKPAKO LOVETH</a:t>
            </a:r>
          </a:p>
          <a:p>
            <a:r>
              <a:rPr lang="en-US" sz="2000" dirty="0" smtClean="0"/>
              <a:t>ONUAGULUCHI FAVOUR</a:t>
            </a:r>
          </a:p>
          <a:p>
            <a:pPr marL="0" indent="0">
              <a:buNone/>
            </a:pPr>
            <a:endParaRPr lang="en-US" dirty="0"/>
          </a:p>
        </p:txBody>
      </p:sp>
    </p:spTree>
    <p:extLst>
      <p:ext uri="{BB962C8B-B14F-4D97-AF65-F5344CB8AC3E}">
        <p14:creationId xmlns:p14="http://schemas.microsoft.com/office/powerpoint/2010/main" val="1335807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0607" y="101595"/>
            <a:ext cx="6923314" cy="930371"/>
          </a:xfrm>
        </p:spPr>
        <p:txBody>
          <a:bodyPr>
            <a:normAutofit fontScale="90000"/>
          </a:bodyPr>
          <a:lstStyle/>
          <a:p>
            <a:r>
              <a:rPr lang="en-US" sz="6000" dirty="0" smtClean="0"/>
              <a:t>GROUP MEMBERS</a:t>
            </a:r>
            <a:endParaRPr lang="en-US" sz="6000" dirty="0"/>
          </a:p>
        </p:txBody>
      </p:sp>
      <p:sp>
        <p:nvSpPr>
          <p:cNvPr id="6" name="Content Placeholder 5"/>
          <p:cNvSpPr>
            <a:spLocks noGrp="1"/>
          </p:cNvSpPr>
          <p:nvPr>
            <p:ph idx="1"/>
          </p:nvPr>
        </p:nvSpPr>
        <p:spPr>
          <a:xfrm>
            <a:off x="1580607" y="1031966"/>
            <a:ext cx="9816789" cy="5826034"/>
          </a:xfrm>
        </p:spPr>
        <p:txBody>
          <a:bodyPr>
            <a:normAutofit/>
          </a:bodyPr>
          <a:lstStyle/>
          <a:p>
            <a:r>
              <a:rPr lang="en-US" sz="2800" dirty="0" smtClean="0"/>
              <a:t>ANYA-FRANCES FAVOUR</a:t>
            </a:r>
          </a:p>
          <a:p>
            <a:r>
              <a:rPr lang="en-US" sz="2800" dirty="0" smtClean="0"/>
              <a:t>BOBMANUEL EMMANUELLA</a:t>
            </a:r>
          </a:p>
          <a:p>
            <a:r>
              <a:rPr lang="en-US" sz="2800" dirty="0" smtClean="0"/>
              <a:t>ENEDU HAPPINESS IFUNANYA</a:t>
            </a:r>
          </a:p>
          <a:p>
            <a:r>
              <a:rPr lang="en-US" sz="2800" dirty="0" smtClean="0"/>
              <a:t>IGOCHUKWU-DIMM JANE</a:t>
            </a:r>
          </a:p>
          <a:p>
            <a:r>
              <a:rPr lang="en-US" sz="2800" dirty="0" smtClean="0"/>
              <a:t>KOLA-OYEGOKE OLUWABUNMI ELIZABETH</a:t>
            </a:r>
          </a:p>
          <a:p>
            <a:r>
              <a:rPr lang="en-US" sz="2800" dirty="0" smtClean="0"/>
              <a:t>OYEBADE OMOTOLANI</a:t>
            </a:r>
          </a:p>
          <a:p>
            <a:r>
              <a:rPr lang="en-US" sz="2800" dirty="0" smtClean="0"/>
              <a:t>SELEKEODUDU FAVOUR</a:t>
            </a:r>
          </a:p>
          <a:p>
            <a:r>
              <a:rPr lang="en-US" sz="2800" dirty="0" smtClean="0"/>
              <a:t>BARNABAS DURAN</a:t>
            </a:r>
          </a:p>
          <a:p>
            <a:r>
              <a:rPr lang="en-US" sz="2800" dirty="0" smtClean="0"/>
              <a:t>ADEMESO OYINDAMOLA ELIZABETH</a:t>
            </a:r>
          </a:p>
          <a:p>
            <a:r>
              <a:rPr lang="en-US" sz="2800" dirty="0" smtClean="0"/>
              <a:t>WILLIAMS EMMANUEL</a:t>
            </a:r>
            <a:endParaRPr lang="en-US" sz="2800" dirty="0"/>
          </a:p>
        </p:txBody>
      </p:sp>
    </p:spTree>
    <p:extLst>
      <p:ext uri="{BB962C8B-B14F-4D97-AF65-F5344CB8AC3E}">
        <p14:creationId xmlns:p14="http://schemas.microsoft.com/office/powerpoint/2010/main" val="408812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4102" y="101595"/>
            <a:ext cx="7282595" cy="1113252"/>
          </a:xfrm>
        </p:spPr>
        <p:txBody>
          <a:bodyPr>
            <a:normAutofit fontScale="90000"/>
          </a:bodyPr>
          <a:lstStyle/>
          <a:p>
            <a:r>
              <a:rPr lang="en-US" sz="6000" dirty="0" smtClean="0"/>
              <a:t>TABLE OF CONTENTS</a:t>
            </a:r>
            <a:endParaRPr lang="en-US" sz="6000" dirty="0"/>
          </a:p>
        </p:txBody>
      </p:sp>
      <p:sp>
        <p:nvSpPr>
          <p:cNvPr id="6" name="Content Placeholder 5"/>
          <p:cNvSpPr>
            <a:spLocks noGrp="1"/>
          </p:cNvSpPr>
          <p:nvPr>
            <p:ph idx="1"/>
          </p:nvPr>
        </p:nvSpPr>
        <p:spPr>
          <a:xfrm>
            <a:off x="2214101" y="1214847"/>
            <a:ext cx="9816789" cy="5499462"/>
          </a:xfrm>
        </p:spPr>
        <p:txBody>
          <a:bodyPr>
            <a:normAutofit/>
          </a:bodyPr>
          <a:lstStyle/>
          <a:p>
            <a:r>
              <a:rPr lang="en-US" sz="4400" dirty="0" smtClean="0"/>
              <a:t>INTRODUCTION</a:t>
            </a:r>
          </a:p>
          <a:p>
            <a:r>
              <a:rPr lang="en-US" sz="4400" dirty="0" smtClean="0"/>
              <a:t>TYPES OF DIABETES</a:t>
            </a:r>
          </a:p>
          <a:p>
            <a:r>
              <a:rPr lang="en-US" sz="4400" dirty="0" smtClean="0"/>
              <a:t> BLOOD SUGAR LEVEL CHARTS</a:t>
            </a:r>
          </a:p>
          <a:p>
            <a:r>
              <a:rPr lang="en-US" sz="4400" dirty="0" smtClean="0"/>
              <a:t>COMPLICATIONS OF DIABETES</a:t>
            </a:r>
          </a:p>
          <a:p>
            <a:r>
              <a:rPr lang="en-US" sz="4400" dirty="0" smtClean="0"/>
              <a:t>MANAGEMENT OF COMPLICATIONS OF DIABETES</a:t>
            </a:r>
            <a:endParaRPr lang="en-US" sz="4400" dirty="0"/>
          </a:p>
          <a:p>
            <a:r>
              <a:rPr lang="en-US" sz="4400" dirty="0" smtClean="0"/>
              <a:t>REFERENCES</a:t>
            </a:r>
            <a:endParaRPr lang="en-US" sz="4400" dirty="0"/>
          </a:p>
        </p:txBody>
      </p:sp>
    </p:spTree>
    <p:extLst>
      <p:ext uri="{BB962C8B-B14F-4D97-AF65-F5344CB8AC3E}">
        <p14:creationId xmlns:p14="http://schemas.microsoft.com/office/powerpoint/2010/main" val="4151857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857" y="0"/>
            <a:ext cx="6825395" cy="1058091"/>
          </a:xfrm>
        </p:spPr>
        <p:txBody>
          <a:bodyPr>
            <a:normAutofit/>
          </a:bodyPr>
          <a:lstStyle/>
          <a:p>
            <a:r>
              <a:rPr lang="en-US" sz="6000" dirty="0" smtClean="0"/>
              <a:t>INTRODUCTION</a:t>
            </a:r>
            <a:endParaRPr lang="en-US" sz="6000" dirty="0"/>
          </a:p>
        </p:txBody>
      </p:sp>
      <p:sp>
        <p:nvSpPr>
          <p:cNvPr id="3" name="Content Placeholder 2"/>
          <p:cNvSpPr>
            <a:spLocks noGrp="1"/>
          </p:cNvSpPr>
          <p:nvPr>
            <p:ph idx="1"/>
          </p:nvPr>
        </p:nvSpPr>
        <p:spPr>
          <a:xfrm>
            <a:off x="1484311" y="1058090"/>
            <a:ext cx="10598831" cy="5682343"/>
          </a:xfrm>
        </p:spPr>
        <p:txBody>
          <a:bodyPr>
            <a:normAutofit/>
          </a:bodyPr>
          <a:lstStyle/>
          <a:p>
            <a:r>
              <a:rPr lang="en-US" sz="3600" dirty="0"/>
              <a:t>Diabetes is a chronic medical condition that affects the way the body metabolizes glucose. Over time, high blood glucose levels can lead to a range of complications</a:t>
            </a:r>
            <a:r>
              <a:rPr lang="en-US" sz="3600" dirty="0" smtClean="0"/>
              <a:t>. It </a:t>
            </a:r>
            <a:r>
              <a:rPr lang="en-US" sz="3600" dirty="0"/>
              <a:t>is a chronic condition that affects how your body turns food into energy. It can cause high blood sugar levels and serious health problems, such as heart disease, kidney failure, blindness and amputation. </a:t>
            </a:r>
          </a:p>
        </p:txBody>
      </p:sp>
    </p:spTree>
    <p:extLst>
      <p:ext uri="{BB962C8B-B14F-4D97-AF65-F5344CB8AC3E}">
        <p14:creationId xmlns:p14="http://schemas.microsoft.com/office/powerpoint/2010/main" val="111554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8137" y="1"/>
            <a:ext cx="7260183" cy="940525"/>
          </a:xfrm>
        </p:spPr>
        <p:txBody>
          <a:bodyPr>
            <a:normAutofit fontScale="90000"/>
          </a:bodyPr>
          <a:lstStyle/>
          <a:p>
            <a:r>
              <a:rPr lang="en-US" sz="6000" dirty="0" smtClean="0"/>
              <a:t>TYPES OF DIABETES</a:t>
            </a:r>
            <a:endParaRPr lang="en-US" sz="6000" dirty="0"/>
          </a:p>
        </p:txBody>
      </p:sp>
      <p:sp>
        <p:nvSpPr>
          <p:cNvPr id="3" name="Content Placeholder 2"/>
          <p:cNvSpPr>
            <a:spLocks noGrp="1"/>
          </p:cNvSpPr>
          <p:nvPr>
            <p:ph idx="1"/>
          </p:nvPr>
        </p:nvSpPr>
        <p:spPr>
          <a:xfrm>
            <a:off x="1619795" y="940527"/>
            <a:ext cx="10437222" cy="5917474"/>
          </a:xfrm>
        </p:spPr>
        <p:txBody>
          <a:bodyPr>
            <a:noAutofit/>
          </a:bodyPr>
          <a:lstStyle/>
          <a:p>
            <a:r>
              <a:rPr lang="en-US" sz="3200" dirty="0"/>
              <a:t>There are three main types of </a:t>
            </a:r>
            <a:r>
              <a:rPr lang="en-US" sz="3200" dirty="0" smtClean="0"/>
              <a:t>diabetes:</a:t>
            </a:r>
          </a:p>
          <a:p>
            <a:r>
              <a:rPr lang="en-US" sz="3200" dirty="0" smtClean="0"/>
              <a:t> </a:t>
            </a:r>
            <a:r>
              <a:rPr lang="en-US" sz="3200" dirty="0"/>
              <a:t>Type 1 </a:t>
            </a:r>
            <a:r>
              <a:rPr lang="en-US" sz="3200" dirty="0" smtClean="0"/>
              <a:t>diabetes (also known as juvenile or insulin dependent) </a:t>
            </a:r>
            <a:r>
              <a:rPr lang="en-US" sz="3200" dirty="0"/>
              <a:t>is caused by an autoimmune reaction that stops your body from making insulin</a:t>
            </a:r>
            <a:r>
              <a:rPr lang="en-US" sz="3200" dirty="0" smtClean="0"/>
              <a:t>.</a:t>
            </a:r>
          </a:p>
          <a:p>
            <a:r>
              <a:rPr lang="en-US" sz="3200" dirty="0" smtClean="0"/>
              <a:t> </a:t>
            </a:r>
            <a:r>
              <a:rPr lang="en-US" sz="3200" dirty="0"/>
              <a:t>Type 2 </a:t>
            </a:r>
            <a:r>
              <a:rPr lang="en-US" sz="3200" dirty="0" smtClean="0"/>
              <a:t>diabetes  </a:t>
            </a:r>
            <a:r>
              <a:rPr lang="en-US" sz="3200" dirty="0"/>
              <a:t>is when your body doesn't use insulin well and can't keep blood sugar at normal levels. </a:t>
            </a:r>
            <a:endParaRPr lang="en-US" sz="3200" dirty="0" smtClean="0"/>
          </a:p>
          <a:p>
            <a:r>
              <a:rPr lang="en-US" sz="3200" dirty="0" smtClean="0"/>
              <a:t>Gestational </a:t>
            </a:r>
            <a:r>
              <a:rPr lang="en-US" sz="3200" dirty="0"/>
              <a:t>diabetes is when pregnant women have high blood sugar levels that can affect their baby's health. Diabetes can be managed with medication, diet, exercise and regular check-ups .</a:t>
            </a:r>
            <a:endParaRPr lang="en-US" sz="3200" dirty="0"/>
          </a:p>
        </p:txBody>
      </p:sp>
    </p:spTree>
    <p:extLst>
      <p:ext uri="{BB962C8B-B14F-4D97-AF65-F5344CB8AC3E}">
        <p14:creationId xmlns:p14="http://schemas.microsoft.com/office/powerpoint/2010/main" val="1732855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749425" y="992188"/>
            <a:ext cx="10442575" cy="5865812"/>
          </a:xfrm>
        </p:spPr>
        <p:txBody>
          <a:bodyPr/>
          <a:lstStyle/>
          <a:p>
            <a:r>
              <a:rPr lang="en-US" dirty="0" smtClean="0"/>
              <a:t> </a:t>
            </a:r>
            <a:endParaRPr lang="en-US" dirty="0"/>
          </a:p>
        </p:txBody>
      </p:sp>
      <p:pic>
        <p:nvPicPr>
          <p:cNvPr id="4" name="Picture 3"/>
          <p:cNvPicPr>
            <a:picLocks noChangeAspect="1"/>
          </p:cNvPicPr>
          <p:nvPr/>
        </p:nvPicPr>
        <p:blipFill>
          <a:blip r:embed="rId2"/>
          <a:stretch>
            <a:fillRect/>
          </a:stretch>
        </p:blipFill>
        <p:spPr>
          <a:xfrm>
            <a:off x="1941512" y="78377"/>
            <a:ext cx="10058400" cy="6714309"/>
          </a:xfrm>
          <a:prstGeom prst="rect">
            <a:avLst/>
          </a:prstGeom>
        </p:spPr>
      </p:pic>
    </p:spTree>
    <p:extLst>
      <p:ext uri="{BB962C8B-B14F-4D97-AF65-F5344CB8AC3E}">
        <p14:creationId xmlns:p14="http://schemas.microsoft.com/office/powerpoint/2010/main" val="1080727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148" y="0"/>
            <a:ext cx="10496057" cy="875211"/>
          </a:xfrm>
        </p:spPr>
        <p:txBody>
          <a:bodyPr>
            <a:normAutofit fontScale="90000"/>
          </a:bodyPr>
          <a:lstStyle/>
          <a:p>
            <a:r>
              <a:rPr lang="en-US" sz="5400" dirty="0" smtClean="0"/>
              <a:t>COMPLICATIONS OF DIABETES</a:t>
            </a:r>
            <a:endParaRPr lang="en-US" sz="5400" dirty="0"/>
          </a:p>
        </p:txBody>
      </p:sp>
      <p:sp>
        <p:nvSpPr>
          <p:cNvPr id="3" name="Content Placeholder 2"/>
          <p:cNvSpPr>
            <a:spLocks noGrp="1"/>
          </p:cNvSpPr>
          <p:nvPr>
            <p:ph idx="1"/>
          </p:nvPr>
        </p:nvSpPr>
        <p:spPr>
          <a:xfrm>
            <a:off x="1695943" y="875211"/>
            <a:ext cx="10496057" cy="5982789"/>
          </a:xfrm>
        </p:spPr>
        <p:txBody>
          <a:bodyPr>
            <a:normAutofit lnSpcReduction="10000"/>
          </a:bodyPr>
          <a:lstStyle/>
          <a:p>
            <a:r>
              <a:rPr lang="en-US" b="1" dirty="0" smtClean="0"/>
              <a:t> </a:t>
            </a:r>
            <a:r>
              <a:rPr lang="en-US" sz="3200" b="1" dirty="0" smtClean="0"/>
              <a:t>DIABETIC NEUROPATHY</a:t>
            </a:r>
          </a:p>
          <a:p>
            <a:pPr marL="0" indent="0">
              <a:buNone/>
            </a:pPr>
            <a:r>
              <a:rPr lang="en-US" sz="3200" dirty="0"/>
              <a:t>Diabetic neuropathy is a type of nerve damage that can occur if you have diabetes. High blood sugar (glucose) can injure nerves throughout the body. Diabetic neuropathy most often damages nerves in the legs and feet</a:t>
            </a:r>
            <a:r>
              <a:rPr lang="en-US" sz="3200" dirty="0" smtClean="0"/>
              <a:t>. Depending </a:t>
            </a:r>
            <a:r>
              <a:rPr lang="en-US" sz="3200" dirty="0"/>
              <a:t>on the affected nerves, diabetic neuropathy symptoms include pain and numbness in the legs, feet and hands. It can also cause problems with the digestive system, urinary tract, blood vessels and heart. Some people have mild symptoms. But for others, diabetic neuropathy can be quite painful and disabling.      </a:t>
            </a:r>
            <a:endParaRPr lang="en-US" sz="3200" dirty="0"/>
          </a:p>
        </p:txBody>
      </p:sp>
    </p:spTree>
    <p:extLst>
      <p:ext uri="{BB962C8B-B14F-4D97-AF65-F5344CB8AC3E}">
        <p14:creationId xmlns:p14="http://schemas.microsoft.com/office/powerpoint/2010/main" val="269292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588" y="0"/>
            <a:ext cx="10391555" cy="953589"/>
          </a:xfrm>
        </p:spPr>
        <p:txBody>
          <a:bodyPr>
            <a:noAutofit/>
          </a:bodyPr>
          <a:lstStyle/>
          <a:p>
            <a:r>
              <a:rPr lang="en-US" sz="4800" dirty="0" smtClean="0"/>
              <a:t>TYPES OF DIABETIC NEUROPATHY</a:t>
            </a:r>
            <a:endParaRPr lang="en-US" sz="4800" dirty="0"/>
          </a:p>
        </p:txBody>
      </p:sp>
      <p:sp>
        <p:nvSpPr>
          <p:cNvPr id="3" name="Content Placeholder 2"/>
          <p:cNvSpPr>
            <a:spLocks noGrp="1"/>
          </p:cNvSpPr>
          <p:nvPr>
            <p:ph idx="1"/>
          </p:nvPr>
        </p:nvSpPr>
        <p:spPr>
          <a:xfrm>
            <a:off x="1691587" y="953589"/>
            <a:ext cx="10391555" cy="5760720"/>
          </a:xfrm>
        </p:spPr>
        <p:txBody>
          <a:bodyPr>
            <a:normAutofit/>
          </a:bodyPr>
          <a:lstStyle/>
          <a:p>
            <a:pPr marL="0" indent="0">
              <a:buNone/>
            </a:pPr>
            <a:r>
              <a:rPr lang="en-US" sz="3600" dirty="0" smtClean="0"/>
              <a:t>THERE ARE 4 MAIN TYPES OF DIABETIC NEUROPATHY</a:t>
            </a:r>
          </a:p>
          <a:p>
            <a:r>
              <a:rPr lang="en-US" sz="3600" dirty="0"/>
              <a:t>Peripheral </a:t>
            </a:r>
            <a:r>
              <a:rPr lang="en-US" sz="3600" dirty="0" smtClean="0"/>
              <a:t>neuropathy</a:t>
            </a:r>
          </a:p>
          <a:p>
            <a:r>
              <a:rPr lang="en-US" sz="3600" dirty="0"/>
              <a:t>Autonomic </a:t>
            </a:r>
            <a:r>
              <a:rPr lang="en-US" sz="3600" dirty="0" smtClean="0"/>
              <a:t>neuropathy</a:t>
            </a:r>
          </a:p>
          <a:p>
            <a:r>
              <a:rPr lang="en-US" sz="3600" dirty="0"/>
              <a:t>Proximal neuropathy (diabetic </a:t>
            </a:r>
            <a:r>
              <a:rPr lang="en-US" sz="3600" dirty="0" err="1"/>
              <a:t>polyradiculopathy</a:t>
            </a:r>
            <a:r>
              <a:rPr lang="en-US" sz="3600" dirty="0" smtClean="0"/>
              <a:t>)</a:t>
            </a:r>
          </a:p>
          <a:p>
            <a:r>
              <a:rPr lang="en-US" sz="3600" dirty="0"/>
              <a:t>Mononeuropathy (focal neuropathy) </a:t>
            </a:r>
            <a:endParaRPr lang="en-US" sz="3600" dirty="0"/>
          </a:p>
        </p:txBody>
      </p:sp>
    </p:spTree>
    <p:extLst>
      <p:ext uri="{BB962C8B-B14F-4D97-AF65-F5344CB8AC3E}">
        <p14:creationId xmlns:p14="http://schemas.microsoft.com/office/powerpoint/2010/main" val="3465080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9336" y="0"/>
            <a:ext cx="10430744" cy="836023"/>
          </a:xfrm>
        </p:spPr>
        <p:txBody>
          <a:bodyPr>
            <a:normAutofit/>
          </a:bodyPr>
          <a:lstStyle/>
          <a:p>
            <a:r>
              <a:rPr lang="en-US" sz="4000" b="1" dirty="0" smtClean="0"/>
              <a:t>PERIPHERAL NEUROPATHY</a:t>
            </a:r>
            <a:endParaRPr lang="en-US" sz="4000" b="1" dirty="0"/>
          </a:p>
        </p:txBody>
      </p:sp>
      <p:sp>
        <p:nvSpPr>
          <p:cNvPr id="3" name="Content Placeholder 2"/>
          <p:cNvSpPr>
            <a:spLocks noGrp="1"/>
          </p:cNvSpPr>
          <p:nvPr>
            <p:ph idx="1"/>
          </p:nvPr>
        </p:nvSpPr>
        <p:spPr>
          <a:xfrm>
            <a:off x="1639336" y="836022"/>
            <a:ext cx="10430744" cy="5904411"/>
          </a:xfrm>
        </p:spPr>
        <p:txBody>
          <a:bodyPr>
            <a:normAutofit/>
          </a:bodyPr>
          <a:lstStyle/>
          <a:p>
            <a:r>
              <a:rPr lang="en-US" sz="3600" dirty="0"/>
              <a:t>This type of neuropathy may also be called distal symmetric peripheral </a:t>
            </a:r>
            <a:r>
              <a:rPr lang="en-US" sz="3600" dirty="0" smtClean="0"/>
              <a:t>neuropathy or sensory neuropathy. </a:t>
            </a:r>
            <a:r>
              <a:rPr lang="en-US" sz="3600" dirty="0"/>
              <a:t>It's the most common type of diabetic neuropathy. It affects the feet and legs first, followed by the hands and arms. Signs and symptoms of peripheral neuropathy are often worse at night, and may include</a:t>
            </a:r>
            <a:r>
              <a:rPr lang="en-US" sz="3600" dirty="0" smtClean="0"/>
              <a:t>:</a:t>
            </a:r>
          </a:p>
          <a:p>
            <a:r>
              <a:rPr lang="en-US" sz="3600" dirty="0" smtClean="0"/>
              <a:t>Numbness </a:t>
            </a:r>
            <a:r>
              <a:rPr lang="en-US" sz="3600" dirty="0"/>
              <a:t>or reduced ability to feel pain or temperature </a:t>
            </a:r>
            <a:r>
              <a:rPr lang="en-US" sz="3600" dirty="0" smtClean="0"/>
              <a:t>changes</a:t>
            </a:r>
          </a:p>
        </p:txBody>
      </p:sp>
    </p:spTree>
    <p:extLst>
      <p:ext uri="{BB962C8B-B14F-4D97-AF65-F5344CB8AC3E}">
        <p14:creationId xmlns:p14="http://schemas.microsoft.com/office/powerpoint/2010/main" val="549022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9336" y="0"/>
            <a:ext cx="10430744" cy="836023"/>
          </a:xfrm>
        </p:spPr>
        <p:txBody>
          <a:bodyPr>
            <a:normAutofit/>
          </a:bodyPr>
          <a:lstStyle/>
          <a:p>
            <a:r>
              <a:rPr lang="en-US" sz="4000" b="1" dirty="0" smtClean="0"/>
              <a:t>PERIPHERAL NEUROPATHY</a:t>
            </a:r>
            <a:endParaRPr lang="en-US" sz="4000" b="1" dirty="0"/>
          </a:p>
        </p:txBody>
      </p:sp>
      <p:sp>
        <p:nvSpPr>
          <p:cNvPr id="3" name="Content Placeholder 2"/>
          <p:cNvSpPr>
            <a:spLocks noGrp="1"/>
          </p:cNvSpPr>
          <p:nvPr>
            <p:ph idx="1"/>
          </p:nvPr>
        </p:nvSpPr>
        <p:spPr>
          <a:xfrm>
            <a:off x="1639336" y="836022"/>
            <a:ext cx="10430744" cy="5904411"/>
          </a:xfrm>
        </p:spPr>
        <p:txBody>
          <a:bodyPr>
            <a:normAutofit/>
          </a:bodyPr>
          <a:lstStyle/>
          <a:p>
            <a:r>
              <a:rPr lang="en-US" sz="3600" dirty="0" smtClean="0"/>
              <a:t>Tingling </a:t>
            </a:r>
            <a:r>
              <a:rPr lang="en-US" sz="3600" dirty="0"/>
              <a:t>or burning </a:t>
            </a:r>
            <a:r>
              <a:rPr lang="en-US" sz="3600" dirty="0" smtClean="0"/>
              <a:t>feeling</a:t>
            </a:r>
          </a:p>
          <a:p>
            <a:r>
              <a:rPr lang="en-US" sz="3600" dirty="0" smtClean="0"/>
              <a:t>Sharp </a:t>
            </a:r>
            <a:r>
              <a:rPr lang="en-US" sz="3600" dirty="0"/>
              <a:t>pains or </a:t>
            </a:r>
            <a:r>
              <a:rPr lang="en-US" sz="3600" dirty="0" smtClean="0"/>
              <a:t>cramps</a:t>
            </a:r>
          </a:p>
          <a:p>
            <a:r>
              <a:rPr lang="en-US" sz="3600" dirty="0" smtClean="0"/>
              <a:t>Muscle weakness</a:t>
            </a:r>
          </a:p>
          <a:p>
            <a:r>
              <a:rPr lang="en-US" sz="3600" dirty="0" smtClean="0"/>
              <a:t>Extreme </a:t>
            </a:r>
            <a:r>
              <a:rPr lang="en-US" sz="3600" dirty="0"/>
              <a:t>sensitivity to touch — for some people, even a bedsheet's weight can be </a:t>
            </a:r>
            <a:r>
              <a:rPr lang="en-US" sz="3600" dirty="0" smtClean="0"/>
              <a:t>painful</a:t>
            </a:r>
          </a:p>
          <a:p>
            <a:r>
              <a:rPr lang="en-US" sz="3600" dirty="0" smtClean="0"/>
              <a:t>Serious </a:t>
            </a:r>
            <a:r>
              <a:rPr lang="en-US" sz="3600" dirty="0"/>
              <a:t>foot problems, such as ulcers, infections, and bone and joint damage</a:t>
            </a:r>
          </a:p>
        </p:txBody>
      </p:sp>
    </p:spTree>
    <p:extLst>
      <p:ext uri="{BB962C8B-B14F-4D97-AF65-F5344CB8AC3E}">
        <p14:creationId xmlns:p14="http://schemas.microsoft.com/office/powerpoint/2010/main" val="571572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46907" y="0"/>
            <a:ext cx="9985971" cy="6781046"/>
          </a:xfrm>
          <a:prstGeom prst="rect">
            <a:avLst/>
          </a:prstGeom>
        </p:spPr>
      </p:pic>
    </p:spTree>
    <p:extLst>
      <p:ext uri="{BB962C8B-B14F-4D97-AF65-F5344CB8AC3E}">
        <p14:creationId xmlns:p14="http://schemas.microsoft.com/office/powerpoint/2010/main" val="1140567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525" y="0"/>
            <a:ext cx="10391554" cy="783771"/>
          </a:xfrm>
        </p:spPr>
        <p:txBody>
          <a:bodyPr>
            <a:normAutofit/>
          </a:bodyPr>
          <a:lstStyle/>
          <a:p>
            <a:r>
              <a:rPr lang="en-US" sz="4000" b="1" dirty="0" smtClean="0"/>
              <a:t>AUTONOMIC NEUROPATHY</a:t>
            </a:r>
            <a:endParaRPr lang="en-US" sz="4000" b="1" dirty="0"/>
          </a:p>
        </p:txBody>
      </p:sp>
      <p:sp>
        <p:nvSpPr>
          <p:cNvPr id="4" name="Content Placeholder 3"/>
          <p:cNvSpPr>
            <a:spLocks noGrp="1"/>
          </p:cNvSpPr>
          <p:nvPr>
            <p:ph idx="1"/>
          </p:nvPr>
        </p:nvSpPr>
        <p:spPr>
          <a:xfrm>
            <a:off x="1678525" y="783770"/>
            <a:ext cx="10391555" cy="6074229"/>
          </a:xfrm>
        </p:spPr>
        <p:txBody>
          <a:bodyPr>
            <a:normAutofit/>
          </a:bodyPr>
          <a:lstStyle/>
          <a:p>
            <a:r>
              <a:rPr lang="en-US" sz="3200" dirty="0"/>
              <a:t>The autonomic nervous system controls blood pressure, heart rate, sweating, eyes, bladder, digestive system and sex organs. Diabetes can affect nerves in any of these areas, possibly causing signs and symptoms including</a:t>
            </a:r>
            <a:r>
              <a:rPr lang="en-US" sz="3200" dirty="0" smtClean="0"/>
              <a:t>:</a:t>
            </a:r>
          </a:p>
          <a:p>
            <a:r>
              <a:rPr lang="en-US" sz="3200" dirty="0" smtClean="0"/>
              <a:t>A </a:t>
            </a:r>
            <a:r>
              <a:rPr lang="en-US" sz="3200" dirty="0"/>
              <a:t>lack of awareness that blood sugar levels are low (hypoglycemia unawareness)Drops in blood pressure when rising from sitting or lying down that may cause dizziness or fainting (orthostatic hypotension)Bladder or bowel </a:t>
            </a:r>
            <a:r>
              <a:rPr lang="en-US" sz="3200" dirty="0" smtClean="0"/>
              <a:t>problems</a:t>
            </a:r>
          </a:p>
        </p:txBody>
      </p:sp>
    </p:spTree>
    <p:extLst>
      <p:ext uri="{BB962C8B-B14F-4D97-AF65-F5344CB8AC3E}">
        <p14:creationId xmlns:p14="http://schemas.microsoft.com/office/powerpoint/2010/main" val="2743172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525" y="0"/>
            <a:ext cx="10391554" cy="783771"/>
          </a:xfrm>
        </p:spPr>
        <p:txBody>
          <a:bodyPr>
            <a:normAutofit/>
          </a:bodyPr>
          <a:lstStyle/>
          <a:p>
            <a:r>
              <a:rPr lang="en-US" sz="4000" b="1" dirty="0" smtClean="0"/>
              <a:t>AUTONOMIC NEUROPATHY</a:t>
            </a:r>
            <a:endParaRPr lang="en-US" sz="4000" b="1" dirty="0"/>
          </a:p>
        </p:txBody>
      </p:sp>
      <p:sp>
        <p:nvSpPr>
          <p:cNvPr id="4" name="Content Placeholder 3"/>
          <p:cNvSpPr>
            <a:spLocks noGrp="1"/>
          </p:cNvSpPr>
          <p:nvPr>
            <p:ph idx="1"/>
          </p:nvPr>
        </p:nvSpPr>
        <p:spPr>
          <a:xfrm>
            <a:off x="1678525" y="783771"/>
            <a:ext cx="10391555" cy="5577110"/>
          </a:xfrm>
        </p:spPr>
        <p:txBody>
          <a:bodyPr/>
          <a:lstStyle/>
          <a:p>
            <a:r>
              <a:rPr lang="en-US" sz="3200" dirty="0" smtClean="0"/>
              <a:t>Slow </a:t>
            </a:r>
            <a:r>
              <a:rPr lang="en-US" sz="3200" dirty="0"/>
              <a:t>stomach emptying (gastroparesis), causing nausea, vomiting, sensation of fullness and loss of </a:t>
            </a:r>
            <a:r>
              <a:rPr lang="en-US" sz="3200" dirty="0" smtClean="0"/>
              <a:t>appetite</a:t>
            </a:r>
          </a:p>
          <a:p>
            <a:r>
              <a:rPr lang="en-US" sz="3200" dirty="0" smtClean="0"/>
              <a:t>Difficulty swallowing</a:t>
            </a:r>
          </a:p>
          <a:p>
            <a:r>
              <a:rPr lang="en-US" sz="3200" dirty="0" smtClean="0"/>
              <a:t>Changes </a:t>
            </a:r>
            <a:r>
              <a:rPr lang="en-US" sz="3200" dirty="0"/>
              <a:t>in the way the eyes adjust from light to dark or far to </a:t>
            </a:r>
            <a:r>
              <a:rPr lang="en-US" sz="3200" dirty="0" smtClean="0"/>
              <a:t>near</a:t>
            </a:r>
          </a:p>
          <a:p>
            <a:r>
              <a:rPr lang="en-US" sz="3200" dirty="0" smtClean="0"/>
              <a:t>Increased </a:t>
            </a:r>
            <a:r>
              <a:rPr lang="en-US" sz="3200" dirty="0"/>
              <a:t>or decreased </a:t>
            </a:r>
            <a:r>
              <a:rPr lang="en-US" sz="3200" dirty="0" smtClean="0"/>
              <a:t>sweating</a:t>
            </a:r>
          </a:p>
          <a:p>
            <a:r>
              <a:rPr lang="en-US" sz="3200" dirty="0" smtClean="0"/>
              <a:t>Problems </a:t>
            </a:r>
            <a:r>
              <a:rPr lang="en-US" sz="3200" dirty="0"/>
              <a:t>with sexual response, such as vaginal dryness in women and erectile dysfunction in men</a:t>
            </a:r>
          </a:p>
        </p:txBody>
      </p:sp>
    </p:spTree>
    <p:extLst>
      <p:ext uri="{BB962C8B-B14F-4D97-AF65-F5344CB8AC3E}">
        <p14:creationId xmlns:p14="http://schemas.microsoft.com/office/powerpoint/2010/main" val="17903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02464" y="72429"/>
            <a:ext cx="10139882" cy="6418906"/>
          </a:xfrm>
          <a:prstGeom prst="rect">
            <a:avLst/>
          </a:prstGeom>
        </p:spPr>
      </p:pic>
    </p:spTree>
    <p:extLst>
      <p:ext uri="{BB962C8B-B14F-4D97-AF65-F5344CB8AC3E}">
        <p14:creationId xmlns:p14="http://schemas.microsoft.com/office/powerpoint/2010/main" val="3530855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0"/>
            <a:ext cx="10487349" cy="1280890"/>
          </a:xfrm>
        </p:spPr>
        <p:txBody>
          <a:bodyPr>
            <a:normAutofit fontScale="90000"/>
          </a:bodyPr>
          <a:lstStyle/>
          <a:p>
            <a:r>
              <a:rPr lang="en-US" sz="4400" b="1" dirty="0" smtClean="0"/>
              <a:t>PROXIMAL NEUROPATHY (DIABETIC POLYRADICULOPATHY)</a:t>
            </a:r>
            <a:endParaRPr lang="en-US" b="1" dirty="0"/>
          </a:p>
        </p:txBody>
      </p:sp>
      <p:sp>
        <p:nvSpPr>
          <p:cNvPr id="4" name="Content Placeholder 3"/>
          <p:cNvSpPr>
            <a:spLocks noGrp="1"/>
          </p:cNvSpPr>
          <p:nvPr>
            <p:ph idx="1"/>
          </p:nvPr>
        </p:nvSpPr>
        <p:spPr>
          <a:xfrm>
            <a:off x="1704650" y="1402080"/>
            <a:ext cx="10339303" cy="5455920"/>
          </a:xfrm>
        </p:spPr>
        <p:txBody>
          <a:bodyPr>
            <a:noAutofit/>
          </a:bodyPr>
          <a:lstStyle/>
          <a:p>
            <a:r>
              <a:rPr lang="en-US" sz="3200" dirty="0"/>
              <a:t>This type of neuropathy often affects nerves in the thighs, hips, buttocks or legs. It can also affect the abdominal and chest area. Symptoms are usually on one side of the body, but may spread to the other side. Proximal neuropathy may include</a:t>
            </a:r>
            <a:r>
              <a:rPr lang="en-US" sz="3200" dirty="0" smtClean="0"/>
              <a:t>:</a:t>
            </a:r>
          </a:p>
          <a:p>
            <a:r>
              <a:rPr lang="en-US" sz="3200" dirty="0" smtClean="0"/>
              <a:t>Severe </a:t>
            </a:r>
            <a:r>
              <a:rPr lang="en-US" sz="3200" dirty="0"/>
              <a:t>pain in the buttock, hip or </a:t>
            </a:r>
            <a:r>
              <a:rPr lang="en-US" sz="3200" dirty="0" smtClean="0"/>
              <a:t>thigh</a:t>
            </a:r>
          </a:p>
          <a:p>
            <a:r>
              <a:rPr lang="en-US" sz="3200" dirty="0" smtClean="0"/>
              <a:t>Weak </a:t>
            </a:r>
            <a:r>
              <a:rPr lang="en-US" sz="3200" dirty="0"/>
              <a:t>and shrinking thigh </a:t>
            </a:r>
            <a:r>
              <a:rPr lang="en-US" sz="3200" dirty="0" smtClean="0"/>
              <a:t>muscles</a:t>
            </a:r>
          </a:p>
          <a:p>
            <a:r>
              <a:rPr lang="en-US" sz="3200" dirty="0" smtClean="0"/>
              <a:t>Difficulty </a:t>
            </a:r>
            <a:r>
              <a:rPr lang="en-US" sz="3200" dirty="0"/>
              <a:t>rising from a sitting </a:t>
            </a:r>
            <a:r>
              <a:rPr lang="en-US" sz="3200" dirty="0" smtClean="0"/>
              <a:t>position</a:t>
            </a:r>
          </a:p>
          <a:p>
            <a:r>
              <a:rPr lang="en-US" sz="3200" dirty="0" smtClean="0"/>
              <a:t>Chest </a:t>
            </a:r>
            <a:r>
              <a:rPr lang="en-US" sz="3200" dirty="0"/>
              <a:t>or abdominal wall pain</a:t>
            </a:r>
          </a:p>
        </p:txBody>
      </p:sp>
    </p:spTree>
    <p:extLst>
      <p:ext uri="{BB962C8B-B14F-4D97-AF65-F5344CB8AC3E}">
        <p14:creationId xmlns:p14="http://schemas.microsoft.com/office/powerpoint/2010/main" val="2204960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0"/>
            <a:ext cx="10487349" cy="1280890"/>
          </a:xfrm>
        </p:spPr>
        <p:txBody>
          <a:bodyPr>
            <a:normAutofit fontScale="90000"/>
          </a:bodyPr>
          <a:lstStyle/>
          <a:p>
            <a:r>
              <a:rPr lang="en-US" sz="4400" b="1" dirty="0" smtClean="0"/>
              <a:t>MONONEUROPATHY (FOCAL NEUROPATHY)</a:t>
            </a:r>
            <a:endParaRPr lang="en-US" sz="4400" b="1" dirty="0"/>
          </a:p>
        </p:txBody>
      </p:sp>
      <p:sp>
        <p:nvSpPr>
          <p:cNvPr id="4" name="Content Placeholder 3"/>
          <p:cNvSpPr>
            <a:spLocks noGrp="1"/>
          </p:cNvSpPr>
          <p:nvPr>
            <p:ph idx="1"/>
          </p:nvPr>
        </p:nvSpPr>
        <p:spPr>
          <a:xfrm>
            <a:off x="1704650" y="1402080"/>
            <a:ext cx="10339303" cy="5455920"/>
          </a:xfrm>
        </p:spPr>
        <p:txBody>
          <a:bodyPr>
            <a:noAutofit/>
          </a:bodyPr>
          <a:lstStyle/>
          <a:p>
            <a:r>
              <a:rPr lang="en-US" sz="3200" dirty="0"/>
              <a:t>Mononeuropathy refers to damage to a single, specific nerve. The nerve may be in the face, torso, arm or leg. Mononeuropathy may lead to</a:t>
            </a:r>
            <a:r>
              <a:rPr lang="en-US" sz="3200" dirty="0" smtClean="0"/>
              <a:t>:</a:t>
            </a:r>
          </a:p>
          <a:p>
            <a:r>
              <a:rPr lang="en-US" sz="3200" dirty="0" smtClean="0"/>
              <a:t>Difficulty </a:t>
            </a:r>
            <a:r>
              <a:rPr lang="en-US" sz="3200" dirty="0"/>
              <a:t>focusing or double </a:t>
            </a:r>
            <a:r>
              <a:rPr lang="en-US" sz="3200" dirty="0" smtClean="0"/>
              <a:t>vision</a:t>
            </a:r>
          </a:p>
          <a:p>
            <a:r>
              <a:rPr lang="en-US" sz="3200" dirty="0" smtClean="0"/>
              <a:t>Paralysis </a:t>
            </a:r>
            <a:r>
              <a:rPr lang="en-US" sz="3200" dirty="0"/>
              <a:t>on one side of the </a:t>
            </a:r>
            <a:r>
              <a:rPr lang="en-US" sz="3200" dirty="0" smtClean="0"/>
              <a:t>face</a:t>
            </a:r>
          </a:p>
          <a:p>
            <a:r>
              <a:rPr lang="en-US" sz="3200" dirty="0" smtClean="0"/>
              <a:t>Numbness </a:t>
            </a:r>
            <a:r>
              <a:rPr lang="en-US" sz="3200" dirty="0"/>
              <a:t>or tingling in the hand or </a:t>
            </a:r>
            <a:r>
              <a:rPr lang="en-US" sz="3200" dirty="0" smtClean="0"/>
              <a:t>fingers</a:t>
            </a:r>
          </a:p>
          <a:p>
            <a:r>
              <a:rPr lang="en-US" sz="3200" dirty="0" smtClean="0"/>
              <a:t>Weakness </a:t>
            </a:r>
            <a:r>
              <a:rPr lang="en-US" sz="3200" dirty="0"/>
              <a:t>in the hand that may result in dropping </a:t>
            </a:r>
            <a:r>
              <a:rPr lang="en-US" sz="3200" dirty="0" smtClean="0"/>
              <a:t>things</a:t>
            </a:r>
          </a:p>
          <a:p>
            <a:r>
              <a:rPr lang="en-US" sz="3200" dirty="0" smtClean="0"/>
              <a:t>Pain </a:t>
            </a:r>
            <a:r>
              <a:rPr lang="en-US" sz="3200" dirty="0"/>
              <a:t>in the shin or </a:t>
            </a:r>
            <a:r>
              <a:rPr lang="en-US" sz="3200" dirty="0" smtClean="0"/>
              <a:t>foot</a:t>
            </a:r>
            <a:endParaRPr lang="en-US" sz="3200" dirty="0"/>
          </a:p>
        </p:txBody>
      </p:sp>
    </p:spTree>
    <p:extLst>
      <p:ext uri="{BB962C8B-B14F-4D97-AF65-F5344CB8AC3E}">
        <p14:creationId xmlns:p14="http://schemas.microsoft.com/office/powerpoint/2010/main" val="1487106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6274" y="0"/>
            <a:ext cx="8911687" cy="901337"/>
          </a:xfrm>
        </p:spPr>
        <p:txBody>
          <a:bodyPr>
            <a:normAutofit/>
          </a:bodyPr>
          <a:lstStyle/>
          <a:p>
            <a:r>
              <a:rPr lang="en-US" sz="4400" b="1" dirty="0" smtClean="0"/>
              <a:t>DIABETIC FOOT ULCER</a:t>
            </a:r>
            <a:endParaRPr lang="en-US" sz="4400" b="1" dirty="0"/>
          </a:p>
        </p:txBody>
      </p:sp>
      <p:sp>
        <p:nvSpPr>
          <p:cNvPr id="3" name="Content Placeholder 2"/>
          <p:cNvSpPr>
            <a:spLocks noGrp="1"/>
          </p:cNvSpPr>
          <p:nvPr>
            <p:ph idx="1"/>
          </p:nvPr>
        </p:nvSpPr>
        <p:spPr>
          <a:xfrm>
            <a:off x="1626274" y="901337"/>
            <a:ext cx="10469932" cy="5826034"/>
          </a:xfrm>
        </p:spPr>
        <p:txBody>
          <a:bodyPr>
            <a:normAutofit/>
          </a:bodyPr>
          <a:lstStyle/>
          <a:p>
            <a:r>
              <a:rPr lang="en-US" sz="3600" dirty="0"/>
              <a:t>Diabetic ulcers on the foot are sores formed below the ankle as a result of a break in the skin that exposes layers underneath. Approximately one in four people with diabetes will develop at least one foot ulcer following diagnosis, and they're responsible for more hospital admissions than any other diabetic complication. </a:t>
            </a:r>
            <a:endParaRPr lang="en-US" sz="3600" dirty="0" smtClean="0"/>
          </a:p>
          <a:p>
            <a:endParaRPr lang="en-US" dirty="0"/>
          </a:p>
        </p:txBody>
      </p:sp>
    </p:spTree>
    <p:extLst>
      <p:ext uri="{BB962C8B-B14F-4D97-AF65-F5344CB8AC3E}">
        <p14:creationId xmlns:p14="http://schemas.microsoft.com/office/powerpoint/2010/main" val="83962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6274" y="0"/>
            <a:ext cx="8911687" cy="901337"/>
          </a:xfrm>
        </p:spPr>
        <p:txBody>
          <a:bodyPr>
            <a:normAutofit/>
          </a:bodyPr>
          <a:lstStyle/>
          <a:p>
            <a:r>
              <a:rPr lang="en-US" sz="4400" b="1" dirty="0" smtClean="0"/>
              <a:t>DIABETIC FOOT ULCER</a:t>
            </a:r>
            <a:endParaRPr lang="en-US" sz="4400" b="1" dirty="0"/>
          </a:p>
        </p:txBody>
      </p:sp>
      <p:sp>
        <p:nvSpPr>
          <p:cNvPr id="3" name="Content Placeholder 2"/>
          <p:cNvSpPr>
            <a:spLocks noGrp="1"/>
          </p:cNvSpPr>
          <p:nvPr>
            <p:ph idx="1"/>
          </p:nvPr>
        </p:nvSpPr>
        <p:spPr>
          <a:xfrm>
            <a:off x="1626274" y="901337"/>
            <a:ext cx="10469932" cy="5826034"/>
          </a:xfrm>
        </p:spPr>
        <p:txBody>
          <a:bodyPr>
            <a:normAutofit/>
          </a:bodyPr>
          <a:lstStyle/>
          <a:p>
            <a:r>
              <a:rPr lang="en-US" sz="3600" dirty="0" smtClean="0"/>
              <a:t>Diabetic </a:t>
            </a:r>
            <a:r>
              <a:rPr lang="en-US" sz="3600" dirty="0"/>
              <a:t>foot ulcers typically start with an injury to the foot, such as from stepping on a nail or developing a blister from an ill-fitting shoe. In someone without diabetes, this type of wound will typically heal on its own, but the picture is more complex for people living with the metabolic disorder. When a foot ulcer develops, it can cause swelling, itching and a burning sensation.</a:t>
            </a:r>
          </a:p>
        </p:txBody>
      </p:sp>
    </p:spTree>
    <p:extLst>
      <p:ext uri="{BB962C8B-B14F-4D97-AF65-F5344CB8AC3E}">
        <p14:creationId xmlns:p14="http://schemas.microsoft.com/office/powerpoint/2010/main" val="2579238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440" y="104502"/>
            <a:ext cx="11978639" cy="6596743"/>
          </a:xfrm>
          <a:prstGeom prst="rect">
            <a:avLst/>
          </a:prstGeom>
        </p:spPr>
      </p:pic>
    </p:spTree>
    <p:extLst>
      <p:ext uri="{BB962C8B-B14F-4D97-AF65-F5344CB8AC3E}">
        <p14:creationId xmlns:p14="http://schemas.microsoft.com/office/powerpoint/2010/main" val="64924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070079" cy="6858000"/>
          </a:xfrm>
          <a:prstGeom prst="rect">
            <a:avLst/>
          </a:prstGeom>
        </p:spPr>
      </p:pic>
    </p:spTree>
    <p:extLst>
      <p:ext uri="{BB962C8B-B14F-4D97-AF65-F5344CB8AC3E}">
        <p14:creationId xmlns:p14="http://schemas.microsoft.com/office/powerpoint/2010/main" val="902162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030891" cy="6858000"/>
          </a:xfrm>
          <a:prstGeom prst="rect">
            <a:avLst/>
          </a:prstGeom>
        </p:spPr>
      </p:pic>
    </p:spTree>
    <p:extLst>
      <p:ext uri="{BB962C8B-B14F-4D97-AF65-F5344CB8AC3E}">
        <p14:creationId xmlns:p14="http://schemas.microsoft.com/office/powerpoint/2010/main" val="3557525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440" y="65315"/>
            <a:ext cx="11913326" cy="6635931"/>
          </a:xfrm>
          <a:prstGeom prst="rect">
            <a:avLst/>
          </a:prstGeom>
        </p:spPr>
      </p:pic>
    </p:spTree>
    <p:extLst>
      <p:ext uri="{BB962C8B-B14F-4D97-AF65-F5344CB8AC3E}">
        <p14:creationId xmlns:p14="http://schemas.microsoft.com/office/powerpoint/2010/main" val="203705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061371" cy="6858000"/>
          </a:xfrm>
          <a:prstGeom prst="rect">
            <a:avLst/>
          </a:prstGeom>
        </p:spPr>
      </p:pic>
    </p:spTree>
    <p:extLst>
      <p:ext uri="{BB962C8B-B14F-4D97-AF65-F5344CB8AC3E}">
        <p14:creationId xmlns:p14="http://schemas.microsoft.com/office/powerpoint/2010/main" val="3048507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760029"/>
          </a:xfrm>
          <a:prstGeom prst="rect">
            <a:avLst/>
          </a:prstGeom>
        </p:spPr>
      </p:pic>
    </p:spTree>
    <p:extLst>
      <p:ext uri="{BB962C8B-B14F-4D97-AF65-F5344CB8AC3E}">
        <p14:creationId xmlns:p14="http://schemas.microsoft.com/office/powerpoint/2010/main" val="3401296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836022"/>
          </a:xfrm>
        </p:spPr>
        <p:txBody>
          <a:bodyPr>
            <a:normAutofit/>
          </a:bodyPr>
          <a:lstStyle/>
          <a:p>
            <a:r>
              <a:rPr lang="en-US" sz="4000" b="1" dirty="0" smtClean="0"/>
              <a:t>MANAGEMENT OF DIABETIC NEUROPATHY</a:t>
            </a:r>
            <a:endParaRPr lang="en-US" sz="4000" b="1" dirty="0"/>
          </a:p>
        </p:txBody>
      </p:sp>
      <p:sp>
        <p:nvSpPr>
          <p:cNvPr id="3" name="Content Placeholder 2"/>
          <p:cNvSpPr>
            <a:spLocks noGrp="1"/>
          </p:cNvSpPr>
          <p:nvPr>
            <p:ph idx="1"/>
          </p:nvPr>
        </p:nvSpPr>
        <p:spPr>
          <a:xfrm>
            <a:off x="1658982" y="836023"/>
            <a:ext cx="10437223" cy="6021977"/>
          </a:xfrm>
        </p:spPr>
        <p:txBody>
          <a:bodyPr>
            <a:noAutofit/>
          </a:bodyPr>
          <a:lstStyle/>
          <a:p>
            <a:r>
              <a:rPr lang="en-US" sz="3200" dirty="0"/>
              <a:t>The management plan for diabetic neuropathy </a:t>
            </a:r>
            <a:r>
              <a:rPr lang="en-US" sz="3200" dirty="0" smtClean="0"/>
              <a:t>includes:</a:t>
            </a:r>
          </a:p>
          <a:p>
            <a:r>
              <a:rPr lang="en-US" sz="3200" b="1" dirty="0"/>
              <a:t> </a:t>
            </a:r>
            <a:r>
              <a:rPr lang="en-US" sz="3200" dirty="0"/>
              <a:t>optimized glycemic control, lifestyle interventions such as physical exercise and weight loss, and medication for neuropathic </a:t>
            </a:r>
            <a:r>
              <a:rPr lang="en-US" sz="3200" dirty="0" smtClean="0"/>
              <a:t>pain. </a:t>
            </a:r>
          </a:p>
          <a:p>
            <a:r>
              <a:rPr lang="en-US" sz="3200" dirty="0" smtClean="0"/>
              <a:t>Tricyclic </a:t>
            </a:r>
            <a:r>
              <a:rPr lang="en-US" sz="3200" dirty="0"/>
              <a:t>antidepressants, serotonin-norepinephrine reuptake inhibitors, and anticonvulsants are commonly prescribed treatments for neuropathic </a:t>
            </a:r>
            <a:r>
              <a:rPr lang="en-US" sz="3200" dirty="0" smtClean="0"/>
              <a:t>pain. </a:t>
            </a:r>
            <a:r>
              <a:rPr lang="en-US" sz="3200" dirty="0"/>
              <a:t>Multidisciplinary team management is required for the prevention and management of diabetic foot </a:t>
            </a:r>
            <a:r>
              <a:rPr lang="en-US" sz="3200" dirty="0" smtClean="0"/>
              <a:t>complications. </a:t>
            </a:r>
          </a:p>
        </p:txBody>
      </p:sp>
    </p:spTree>
    <p:extLst>
      <p:ext uri="{BB962C8B-B14F-4D97-AF65-F5344CB8AC3E}">
        <p14:creationId xmlns:p14="http://schemas.microsoft.com/office/powerpoint/2010/main" val="1599192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979714"/>
          </a:xfrm>
        </p:spPr>
        <p:txBody>
          <a:bodyPr>
            <a:normAutofit/>
          </a:bodyPr>
          <a:lstStyle/>
          <a:p>
            <a:r>
              <a:rPr lang="en-US" sz="4000" b="1" dirty="0" smtClean="0"/>
              <a:t>MANAGEMENT OF DIABETIC NEUROPATHY</a:t>
            </a:r>
            <a:endParaRPr lang="en-US" sz="4000" b="1" dirty="0"/>
          </a:p>
        </p:txBody>
      </p:sp>
      <p:sp>
        <p:nvSpPr>
          <p:cNvPr id="3" name="Content Placeholder 2"/>
          <p:cNvSpPr>
            <a:spLocks noGrp="1"/>
          </p:cNvSpPr>
          <p:nvPr>
            <p:ph idx="1"/>
          </p:nvPr>
        </p:nvSpPr>
        <p:spPr>
          <a:xfrm>
            <a:off x="1700938" y="979715"/>
            <a:ext cx="10343016" cy="5878285"/>
          </a:xfrm>
        </p:spPr>
        <p:txBody>
          <a:bodyPr>
            <a:normAutofit/>
          </a:bodyPr>
          <a:lstStyle/>
          <a:p>
            <a:r>
              <a:rPr lang="en-US" dirty="0" smtClean="0"/>
              <a:t> </a:t>
            </a:r>
            <a:r>
              <a:rPr lang="en-US" sz="3600" dirty="0"/>
              <a:t>Strength training can moderately improve muscle function, reduce neuropathic pain, and help control blood sugar levels for people with diabetic </a:t>
            </a:r>
            <a:r>
              <a:rPr lang="en-US" sz="3600" dirty="0" smtClean="0"/>
              <a:t>neuropathy</a:t>
            </a:r>
          </a:p>
          <a:p>
            <a:r>
              <a:rPr lang="en-US" sz="3600" dirty="0" smtClean="0"/>
              <a:t> </a:t>
            </a:r>
            <a:r>
              <a:rPr lang="en-US" sz="3600" dirty="0"/>
              <a:t>A balanced diet and regular exercise are also </a:t>
            </a:r>
            <a:r>
              <a:rPr lang="en-US" sz="3600" dirty="0" smtClean="0"/>
              <a:t>recommended</a:t>
            </a:r>
          </a:p>
          <a:p>
            <a:r>
              <a:rPr lang="en-US" sz="3600" dirty="0" smtClean="0"/>
              <a:t> </a:t>
            </a:r>
            <a:r>
              <a:rPr lang="en-US" sz="3600" dirty="0"/>
              <a:t>There are currently no universally accepted disease modifying medicines, but research is ongoing</a:t>
            </a:r>
            <a:endParaRPr lang="en-US" sz="3600" dirty="0"/>
          </a:p>
        </p:txBody>
      </p:sp>
    </p:spTree>
    <p:extLst>
      <p:ext uri="{BB962C8B-B14F-4D97-AF65-F5344CB8AC3E}">
        <p14:creationId xmlns:p14="http://schemas.microsoft.com/office/powerpoint/2010/main" val="1833788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757645"/>
          </a:xfrm>
        </p:spPr>
        <p:txBody>
          <a:bodyPr>
            <a:normAutofit/>
          </a:bodyPr>
          <a:lstStyle/>
          <a:p>
            <a:r>
              <a:rPr lang="en-US" sz="4000" b="1" dirty="0" smtClean="0"/>
              <a:t>MANAGEMENT OF DIABETIC FOOT ULCER</a:t>
            </a:r>
            <a:endParaRPr lang="en-US" sz="4000" b="1" dirty="0"/>
          </a:p>
        </p:txBody>
      </p:sp>
      <p:sp>
        <p:nvSpPr>
          <p:cNvPr id="3" name="Content Placeholder 2"/>
          <p:cNvSpPr>
            <a:spLocks noGrp="1"/>
          </p:cNvSpPr>
          <p:nvPr>
            <p:ph idx="1"/>
          </p:nvPr>
        </p:nvSpPr>
        <p:spPr>
          <a:xfrm>
            <a:off x="1515291" y="757647"/>
            <a:ext cx="10676709" cy="6100354"/>
          </a:xfrm>
        </p:spPr>
        <p:txBody>
          <a:bodyPr>
            <a:normAutofit/>
          </a:bodyPr>
          <a:lstStyle/>
          <a:p>
            <a:r>
              <a:rPr lang="en-US" dirty="0"/>
              <a:t> </a:t>
            </a:r>
            <a:r>
              <a:rPr lang="en-US" sz="3100" dirty="0"/>
              <a:t>The management of diabetic foot ulcers requires offloading the wound, daily saline or similar dressings to provide a moist wound environment, </a:t>
            </a:r>
            <a:r>
              <a:rPr lang="en-US" sz="3100" dirty="0" smtClean="0"/>
              <a:t>debridement </a:t>
            </a:r>
            <a:r>
              <a:rPr lang="en-US" sz="3100" dirty="0"/>
              <a:t>when necessary, antibiotic therapy with or without surgical intervention if osteomyelitis or soft tissue infection is </a:t>
            </a:r>
            <a:r>
              <a:rPr lang="en-US" sz="3100" dirty="0" smtClean="0"/>
              <a:t>present, optimal </a:t>
            </a:r>
            <a:r>
              <a:rPr lang="en-US" sz="3100" dirty="0"/>
              <a:t>control of blood glucose, and evaluation and correction of peripheral arterial </a:t>
            </a:r>
            <a:r>
              <a:rPr lang="en-US" sz="3100" dirty="0" smtClean="0"/>
              <a:t>insufficiency. To </a:t>
            </a:r>
            <a:r>
              <a:rPr lang="en-US" sz="3100" dirty="0"/>
              <a:t>promote ulcer healing in a person with diabetes and a neuropathic plantar ulcer, consider, if nonsurgical offloading therapy is unsuccessful, Achilles tendon lengthening, metatarsal head resection(s), or joint arthroplasty.</a:t>
            </a:r>
            <a:endParaRPr lang="en-US" sz="3100" dirty="0"/>
          </a:p>
        </p:txBody>
      </p:sp>
    </p:spTree>
    <p:extLst>
      <p:ext uri="{BB962C8B-B14F-4D97-AF65-F5344CB8AC3E}">
        <p14:creationId xmlns:p14="http://schemas.microsoft.com/office/powerpoint/2010/main" val="4178865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757645"/>
          </a:xfrm>
        </p:spPr>
        <p:txBody>
          <a:bodyPr>
            <a:normAutofit/>
          </a:bodyPr>
          <a:lstStyle/>
          <a:p>
            <a:r>
              <a:rPr lang="en-US" sz="4000" b="1" dirty="0" smtClean="0"/>
              <a:t>MANAGEMENT OF HOSPITALISED PATIENTS</a:t>
            </a:r>
            <a:endParaRPr lang="en-US" sz="4000" b="1" dirty="0"/>
          </a:p>
        </p:txBody>
      </p:sp>
      <p:sp>
        <p:nvSpPr>
          <p:cNvPr id="3" name="Content Placeholder 2"/>
          <p:cNvSpPr>
            <a:spLocks noGrp="1"/>
          </p:cNvSpPr>
          <p:nvPr>
            <p:ph idx="1"/>
          </p:nvPr>
        </p:nvSpPr>
        <p:spPr>
          <a:xfrm>
            <a:off x="1515291" y="757647"/>
            <a:ext cx="10676709" cy="6100354"/>
          </a:xfrm>
        </p:spPr>
        <p:txBody>
          <a:bodyPr>
            <a:normAutofit lnSpcReduction="10000"/>
          </a:bodyPr>
          <a:lstStyle/>
          <a:p>
            <a:r>
              <a:rPr lang="en-US" sz="3100" dirty="0"/>
              <a:t>Nursing management for hospitalized patients with diabetic complications involves a comprehensive approach that focuses on the management of diabetes, as well as the specific complication that the patient is experiencing. The goal of nursing management is to prevent further complications, promote healing, and support the patient in achieving optimal health</a:t>
            </a:r>
            <a:r>
              <a:rPr lang="en-US" sz="3100" dirty="0" smtClean="0"/>
              <a:t>.</a:t>
            </a:r>
          </a:p>
          <a:p>
            <a:r>
              <a:rPr lang="en-US" sz="3100" dirty="0" smtClean="0"/>
              <a:t>Monitor </a:t>
            </a:r>
            <a:r>
              <a:rPr lang="en-US" sz="3100" dirty="0"/>
              <a:t>blood glucose levels: Nurses should monitor the patient's blood glucose levels regularly to ensure they are within the target range. This may involve administering insulin or other medications, as well as adjusting the patient's diet and activity level</a:t>
            </a:r>
            <a:r>
              <a:rPr lang="en-US" sz="3100" dirty="0" smtClean="0"/>
              <a:t>.</a:t>
            </a:r>
          </a:p>
          <a:p>
            <a:pPr marL="0" indent="0">
              <a:buNone/>
            </a:pPr>
            <a:endParaRPr lang="en-US" sz="3100" dirty="0"/>
          </a:p>
        </p:txBody>
      </p:sp>
    </p:spTree>
    <p:extLst>
      <p:ext uri="{BB962C8B-B14F-4D97-AF65-F5344CB8AC3E}">
        <p14:creationId xmlns:p14="http://schemas.microsoft.com/office/powerpoint/2010/main" val="2643252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757645"/>
          </a:xfrm>
        </p:spPr>
        <p:txBody>
          <a:bodyPr>
            <a:normAutofit/>
          </a:bodyPr>
          <a:lstStyle/>
          <a:p>
            <a:r>
              <a:rPr lang="en-US" sz="4000" b="1" dirty="0" smtClean="0"/>
              <a:t>MANAGEMENT OF HOSPITALISED PATIENTS</a:t>
            </a:r>
            <a:endParaRPr lang="en-US" sz="4000" b="1" dirty="0"/>
          </a:p>
        </p:txBody>
      </p:sp>
      <p:sp>
        <p:nvSpPr>
          <p:cNvPr id="3" name="Content Placeholder 2"/>
          <p:cNvSpPr>
            <a:spLocks noGrp="1"/>
          </p:cNvSpPr>
          <p:nvPr>
            <p:ph idx="1"/>
          </p:nvPr>
        </p:nvSpPr>
        <p:spPr>
          <a:xfrm>
            <a:off x="1515291" y="757647"/>
            <a:ext cx="10676709" cy="6100354"/>
          </a:xfrm>
        </p:spPr>
        <p:txBody>
          <a:bodyPr>
            <a:normAutofit/>
          </a:bodyPr>
          <a:lstStyle/>
          <a:p>
            <a:r>
              <a:rPr lang="en-US" sz="3100" dirty="0" smtClean="0"/>
              <a:t>Manage </a:t>
            </a:r>
            <a:r>
              <a:rPr lang="en-US" sz="3100" dirty="0"/>
              <a:t>pain: Patients with diabetic complications may experience pain related to neuropathy, infections, or other issues. Nurses should assess the patient's pain level regularly and administer appropriate pain medications</a:t>
            </a:r>
            <a:r>
              <a:rPr lang="en-US" sz="3100" dirty="0" smtClean="0"/>
              <a:t>.</a:t>
            </a:r>
          </a:p>
          <a:p>
            <a:r>
              <a:rPr lang="en-US" sz="3100" dirty="0" smtClean="0"/>
              <a:t>Provide </a:t>
            </a:r>
            <a:r>
              <a:rPr lang="en-US" sz="3100" dirty="0"/>
              <a:t>wound care: Patients with diabetic foot ulcers or other wounds require careful wound care to prevent infection and promote healing. Nurses should clean and dress wounds according to best practices and monitor for signs of </a:t>
            </a:r>
            <a:r>
              <a:rPr lang="en-US" sz="3100" dirty="0" smtClean="0"/>
              <a:t>infection </a:t>
            </a:r>
            <a:endParaRPr lang="en-US" sz="3100" dirty="0"/>
          </a:p>
        </p:txBody>
      </p:sp>
    </p:spTree>
    <p:extLst>
      <p:ext uri="{BB962C8B-B14F-4D97-AF65-F5344CB8AC3E}">
        <p14:creationId xmlns:p14="http://schemas.microsoft.com/office/powerpoint/2010/main" val="2423245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757645"/>
          </a:xfrm>
        </p:spPr>
        <p:txBody>
          <a:bodyPr>
            <a:normAutofit/>
          </a:bodyPr>
          <a:lstStyle/>
          <a:p>
            <a:r>
              <a:rPr lang="en-US" sz="4000" b="1" dirty="0" smtClean="0"/>
              <a:t>MANAGEMENT OF HOSPITALISED PATIENTS</a:t>
            </a:r>
            <a:endParaRPr lang="en-US" sz="4000" b="1" dirty="0"/>
          </a:p>
        </p:txBody>
      </p:sp>
      <p:sp>
        <p:nvSpPr>
          <p:cNvPr id="3" name="Content Placeholder 2"/>
          <p:cNvSpPr>
            <a:spLocks noGrp="1"/>
          </p:cNvSpPr>
          <p:nvPr>
            <p:ph idx="1"/>
          </p:nvPr>
        </p:nvSpPr>
        <p:spPr>
          <a:xfrm>
            <a:off x="1515291" y="757647"/>
            <a:ext cx="10676709" cy="6100354"/>
          </a:xfrm>
        </p:spPr>
        <p:txBody>
          <a:bodyPr>
            <a:normAutofit lnSpcReduction="10000"/>
          </a:bodyPr>
          <a:lstStyle/>
          <a:p>
            <a:r>
              <a:rPr lang="en-US" sz="3100" dirty="0" smtClean="0"/>
              <a:t> Educate </a:t>
            </a:r>
            <a:r>
              <a:rPr lang="en-US" sz="3100" dirty="0"/>
              <a:t>patients on self-care: Patients with diabetic complications need to understand how to manage their condition and prevent further complications. Nurses should provide education on self-care, including proper foot care, blood glucose monitoring, and medication management</a:t>
            </a:r>
            <a:r>
              <a:rPr lang="en-US" sz="3100" dirty="0" smtClean="0"/>
              <a:t>.</a:t>
            </a:r>
          </a:p>
          <a:p>
            <a:r>
              <a:rPr lang="en-US" sz="3100" dirty="0" smtClean="0"/>
              <a:t>Monitor </a:t>
            </a:r>
            <a:r>
              <a:rPr lang="en-US" sz="3100" dirty="0"/>
              <a:t>for complications: Patients with diabetic complications are at risk for developing further complications, such as kidney disease, retinopathy, and cardiovascular disease. Nurses should monitor for signs of these complications and intervene as necessary to prevent further damage</a:t>
            </a:r>
            <a:r>
              <a:rPr lang="en-US" sz="3100" dirty="0" smtClean="0"/>
              <a:t>.</a:t>
            </a:r>
          </a:p>
          <a:p>
            <a:pPr marL="0" indent="0">
              <a:buNone/>
            </a:pPr>
            <a:r>
              <a:rPr lang="en-US" sz="3100" dirty="0" smtClean="0"/>
              <a:t>.</a:t>
            </a:r>
            <a:endParaRPr lang="en-US" sz="3100" dirty="0"/>
          </a:p>
        </p:txBody>
      </p:sp>
    </p:spTree>
    <p:extLst>
      <p:ext uri="{BB962C8B-B14F-4D97-AF65-F5344CB8AC3E}">
        <p14:creationId xmlns:p14="http://schemas.microsoft.com/office/powerpoint/2010/main" val="3745664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1" y="1"/>
            <a:ext cx="10487349" cy="757645"/>
          </a:xfrm>
        </p:spPr>
        <p:txBody>
          <a:bodyPr>
            <a:normAutofit/>
          </a:bodyPr>
          <a:lstStyle/>
          <a:p>
            <a:r>
              <a:rPr lang="en-US" sz="4000" b="1" dirty="0" smtClean="0"/>
              <a:t>MANAGEMENT OF HOSPITALISED PATIENTS</a:t>
            </a:r>
            <a:endParaRPr lang="en-US" sz="4000" b="1" dirty="0"/>
          </a:p>
        </p:txBody>
      </p:sp>
      <p:sp>
        <p:nvSpPr>
          <p:cNvPr id="3" name="Content Placeholder 2"/>
          <p:cNvSpPr>
            <a:spLocks noGrp="1"/>
          </p:cNvSpPr>
          <p:nvPr>
            <p:ph idx="1"/>
          </p:nvPr>
        </p:nvSpPr>
        <p:spPr>
          <a:xfrm>
            <a:off x="1515291" y="757647"/>
            <a:ext cx="10676709" cy="6100354"/>
          </a:xfrm>
        </p:spPr>
        <p:txBody>
          <a:bodyPr>
            <a:normAutofit/>
          </a:bodyPr>
          <a:lstStyle/>
          <a:p>
            <a:r>
              <a:rPr lang="en-US" sz="3100" dirty="0" smtClean="0"/>
              <a:t>Coordinate </a:t>
            </a:r>
            <a:r>
              <a:rPr lang="en-US" sz="3100" dirty="0"/>
              <a:t>care with other healthcare providers: Patients with diabetic complications may require care from multiple healthcare providers, including endocrinologists, podiatrists, and ophthalmologists. Nurses should work closely with these providers to ensure that the patient's care is coordinated and that all aspects of their condition are being addressed.</a:t>
            </a:r>
            <a:endParaRPr lang="en-US" sz="3100" dirty="0"/>
          </a:p>
        </p:txBody>
      </p:sp>
    </p:spTree>
    <p:extLst>
      <p:ext uri="{BB962C8B-B14F-4D97-AF65-F5344CB8AC3E}">
        <p14:creationId xmlns:p14="http://schemas.microsoft.com/office/powerpoint/2010/main" val="1801222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171" y="23218"/>
            <a:ext cx="9166361" cy="943433"/>
          </a:xfrm>
        </p:spPr>
        <p:txBody>
          <a:bodyPr>
            <a:normAutofit/>
          </a:bodyPr>
          <a:lstStyle/>
          <a:p>
            <a:r>
              <a:rPr lang="en-US" sz="4800" dirty="0" smtClean="0"/>
              <a:t>REFERENCES</a:t>
            </a:r>
            <a:endParaRPr lang="en-US" sz="4800" dirty="0"/>
          </a:p>
        </p:txBody>
      </p:sp>
      <p:sp>
        <p:nvSpPr>
          <p:cNvPr id="5" name="Content Placeholder 4"/>
          <p:cNvSpPr>
            <a:spLocks noGrp="1"/>
          </p:cNvSpPr>
          <p:nvPr>
            <p:ph idx="1"/>
          </p:nvPr>
        </p:nvSpPr>
        <p:spPr>
          <a:xfrm>
            <a:off x="1606731" y="966651"/>
            <a:ext cx="10398035" cy="5891349"/>
          </a:xfrm>
        </p:spPr>
        <p:txBody>
          <a:bodyPr>
            <a:normAutofit/>
          </a:bodyPr>
          <a:lstStyle/>
          <a:p>
            <a:r>
              <a:rPr lang="en-US" sz="2400" dirty="0" smtClean="0">
                <a:hlinkClick r:id="rId2"/>
              </a:rPr>
              <a:t>https</a:t>
            </a:r>
            <a:r>
              <a:rPr lang="en-US" sz="2400" dirty="0">
                <a:hlinkClick r:id="rId2"/>
              </a:rPr>
              <a:t>://</a:t>
            </a:r>
            <a:r>
              <a:rPr lang="en-US" sz="2400" dirty="0" smtClean="0">
                <a:hlinkClick r:id="rId2"/>
              </a:rPr>
              <a:t>www.cdc.gov/diabetes/basics/diabetes.html</a:t>
            </a:r>
            <a:r>
              <a:rPr lang="en-US" sz="2400" dirty="0" smtClean="0"/>
              <a:t>.</a:t>
            </a:r>
          </a:p>
          <a:p>
            <a:r>
              <a:rPr lang="en-US" sz="2400" dirty="0" smtClean="0"/>
              <a:t>https</a:t>
            </a:r>
            <a:r>
              <a:rPr lang="en-US" sz="2400" dirty="0"/>
              <a:t>://www.mayoclinic.org/diseases-conditions/diabetes/symptoms-causes/syc-20371444.</a:t>
            </a:r>
          </a:p>
          <a:p>
            <a:r>
              <a:rPr lang="en-US" sz="2400" dirty="0" smtClean="0">
                <a:hlinkClick r:id="rId3"/>
              </a:rPr>
              <a:t>https</a:t>
            </a:r>
            <a:r>
              <a:rPr lang="en-US" sz="2400" dirty="0">
                <a:hlinkClick r:id="rId3"/>
              </a:rPr>
              <a:t>://www.who.int/news-room/fact-sheets/detail/diabetes</a:t>
            </a:r>
            <a:r>
              <a:rPr lang="en-US" sz="2400" dirty="0" smtClean="0"/>
              <a:t>.</a:t>
            </a:r>
          </a:p>
          <a:p>
            <a:r>
              <a:rPr lang="en-US" sz="2400" dirty="0">
                <a:hlinkClick r:id="rId4"/>
              </a:rPr>
              <a:t>https://www.mintstl.com/blog/how-to-spot-the-signs-of-a-diabetic-ulcer-on-the-foot#:~:</a:t>
            </a:r>
            <a:r>
              <a:rPr lang="en-US" sz="2400" dirty="0" smtClean="0">
                <a:hlinkClick r:id="rId4"/>
              </a:rPr>
              <a:t>text=A%20foot%20ulcer%20looks%20like,an%20indication%20of%20another%20problem</a:t>
            </a:r>
            <a:endParaRPr lang="en-US" sz="2400" dirty="0" smtClean="0"/>
          </a:p>
          <a:p>
            <a:r>
              <a:rPr lang="en-US" sz="2400" dirty="0">
                <a:hlinkClick r:id="rId5"/>
              </a:rPr>
              <a:t>Diabetic Neuropathy - </a:t>
            </a:r>
            <a:r>
              <a:rPr lang="en-US" sz="2400" dirty="0" err="1">
                <a:hlinkClick r:id="rId5"/>
              </a:rPr>
              <a:t>Physiopedia</a:t>
            </a:r>
            <a:r>
              <a:rPr lang="en-US" sz="2400" dirty="0">
                <a:hlinkClick r:id="rId5"/>
              </a:rPr>
              <a:t> (physio-pedia.com</a:t>
            </a:r>
            <a:r>
              <a:rPr lang="en-US" sz="2400" dirty="0" smtClean="0">
                <a:hlinkClick r:id="rId5"/>
              </a:rPr>
              <a:t>)</a:t>
            </a:r>
            <a:endParaRPr lang="en-US" sz="2400" dirty="0" smtClean="0"/>
          </a:p>
          <a:p>
            <a:r>
              <a:rPr lang="en-US" sz="2400" dirty="0">
                <a:hlinkClick r:id="rId6"/>
              </a:rPr>
              <a:t>Management of Diabetic Peripheral Neuropathy | Clinical Diabetes | American Diabetes Association (diabetesjournals.org</a:t>
            </a:r>
            <a:r>
              <a:rPr lang="en-US" sz="2400" dirty="0" smtClean="0">
                <a:hlinkClick r:id="rId6"/>
              </a:rPr>
              <a:t>)</a:t>
            </a:r>
            <a:endParaRPr lang="en-US" sz="2400" dirty="0" smtClean="0"/>
          </a:p>
          <a:p>
            <a:r>
              <a:rPr lang="en-US" sz="2400" dirty="0">
                <a:hlinkClick r:id="rId7"/>
              </a:rPr>
              <a:t>Management of diabetic neuropathy </a:t>
            </a:r>
            <a:r>
              <a:rPr lang="en-US" sz="2400" dirty="0" smtClean="0">
                <a:hlinkClick r:id="rId7"/>
              </a:rPr>
              <a:t>– </a:t>
            </a:r>
            <a:r>
              <a:rPr lang="en-US" sz="2400" dirty="0" err="1" smtClean="0">
                <a:hlinkClick r:id="rId7"/>
              </a:rPr>
              <a:t>UpToDate</a:t>
            </a:r>
            <a:endParaRPr lang="en-US" sz="2400" dirty="0" smtClean="0"/>
          </a:p>
          <a:p>
            <a:r>
              <a:rPr lang="en-US" sz="2400" dirty="0">
                <a:hlinkClick r:id="rId8"/>
              </a:rPr>
              <a:t>Management of diabetic neuropathy - PubMed (nih.gov)</a:t>
            </a:r>
            <a:endParaRPr lang="en-US" sz="2400" dirty="0"/>
          </a:p>
        </p:txBody>
      </p:sp>
    </p:spTree>
    <p:extLst>
      <p:ext uri="{BB962C8B-B14F-4D97-AF65-F5344CB8AC3E}">
        <p14:creationId xmlns:p14="http://schemas.microsoft.com/office/powerpoint/2010/main" val="1635604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908" y="114659"/>
            <a:ext cx="8911687" cy="642987"/>
          </a:xfrm>
        </p:spPr>
        <p:txBody>
          <a:bodyPr>
            <a:normAutofit fontScale="90000"/>
          </a:bodyPr>
          <a:lstStyle/>
          <a:p>
            <a:r>
              <a:rPr lang="en-US" dirty="0"/>
              <a:t/>
            </a:r>
            <a:br>
              <a:rPr lang="en-US" dirty="0"/>
            </a:br>
            <a:endParaRPr lang="en-US" dirty="0"/>
          </a:p>
        </p:txBody>
      </p:sp>
      <p:sp>
        <p:nvSpPr>
          <p:cNvPr id="3" name="Content Placeholder 2"/>
          <p:cNvSpPr>
            <a:spLocks noGrp="1"/>
          </p:cNvSpPr>
          <p:nvPr>
            <p:ph idx="1"/>
          </p:nvPr>
        </p:nvSpPr>
        <p:spPr>
          <a:xfrm>
            <a:off x="1962195" y="114658"/>
            <a:ext cx="10003382" cy="6625775"/>
          </a:xfrm>
        </p:spPr>
        <p:txBody>
          <a:bodyPr>
            <a:normAutofit/>
          </a:bodyPr>
          <a:lstStyle/>
          <a:p>
            <a:pPr marL="0" indent="0" algn="ctr">
              <a:buNone/>
            </a:pPr>
            <a:r>
              <a:rPr lang="en-US" sz="9600" b="1" dirty="0" smtClean="0"/>
              <a:t>THANK YOU </a:t>
            </a:r>
          </a:p>
          <a:p>
            <a:pPr marL="0" indent="0" algn="ctr">
              <a:buNone/>
            </a:pPr>
            <a:r>
              <a:rPr lang="en-US" sz="9600" b="1" dirty="0" smtClean="0"/>
              <a:t>FOR </a:t>
            </a:r>
          </a:p>
          <a:p>
            <a:pPr marL="0" indent="0" algn="ctr">
              <a:buNone/>
            </a:pPr>
            <a:r>
              <a:rPr lang="en-US" sz="9600" b="1" dirty="0" smtClean="0"/>
              <a:t>LISTENING</a:t>
            </a:r>
            <a:endParaRPr lang="en-US" sz="9600" b="1" dirty="0"/>
          </a:p>
        </p:txBody>
      </p:sp>
    </p:spTree>
    <p:extLst>
      <p:ext uri="{BB962C8B-B14F-4D97-AF65-F5344CB8AC3E}">
        <p14:creationId xmlns:p14="http://schemas.microsoft.com/office/powerpoint/2010/main" val="400697895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216</TotalTime>
  <Words>1463</Words>
  <Application>Microsoft Office PowerPoint</Application>
  <PresentationFormat>Widescreen</PresentationFormat>
  <Paragraphs>121</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Century Gothic</vt:lpstr>
      <vt:lpstr>Wingdings 3</vt:lpstr>
      <vt:lpstr>Wisp</vt:lpstr>
      <vt:lpstr>COMPLICATIONS OF DIABETES</vt:lpstr>
      <vt:lpstr>GROUP MEMBERS</vt:lpstr>
      <vt:lpstr>GROUP MEMBERS</vt:lpstr>
      <vt:lpstr>TABLE OF CONTENTS</vt:lpstr>
      <vt:lpstr>INTRODUCTION</vt:lpstr>
      <vt:lpstr>TYPES OF DIABETES</vt:lpstr>
      <vt:lpstr>PowerPoint Presentation</vt:lpstr>
      <vt:lpstr>COMPLICATIONS OF DIABETES</vt:lpstr>
      <vt:lpstr>TYPES OF DIABETIC NEUROPATHY</vt:lpstr>
      <vt:lpstr>PERIPHERAL NEUROPATHY</vt:lpstr>
      <vt:lpstr>PERIPHERAL NEUROPATHY</vt:lpstr>
      <vt:lpstr>PowerPoint Presentation</vt:lpstr>
      <vt:lpstr>AUTONOMIC NEUROPATHY</vt:lpstr>
      <vt:lpstr>AUTONOMIC NEUROPATHY</vt:lpstr>
      <vt:lpstr>PowerPoint Presentation</vt:lpstr>
      <vt:lpstr>PROXIMAL NEUROPATHY (DIABETIC POLYRADICULOPATHY)</vt:lpstr>
      <vt:lpstr>MONONEUROPATHY (FOCAL NEUROPATHY)</vt:lpstr>
      <vt:lpstr>DIABETIC FOOT ULCER</vt:lpstr>
      <vt:lpstr>DIABETIC FOOT ULCER</vt:lpstr>
      <vt:lpstr>PowerPoint Presentation</vt:lpstr>
      <vt:lpstr>PowerPoint Presentation</vt:lpstr>
      <vt:lpstr>PowerPoint Presentation</vt:lpstr>
      <vt:lpstr>PowerPoint Presentation</vt:lpstr>
      <vt:lpstr>PowerPoint Presentation</vt:lpstr>
      <vt:lpstr>PowerPoint Presentation</vt:lpstr>
      <vt:lpstr>MANAGEMENT OF DIABETIC NEUROPATHY</vt:lpstr>
      <vt:lpstr>MANAGEMENT OF DIABETIC NEUROPATHY</vt:lpstr>
      <vt:lpstr>MANAGEMENT OF DIABETIC FOOT ULCER</vt:lpstr>
      <vt:lpstr>MANAGEMENT OF HOSPITALISED PATIENTS</vt:lpstr>
      <vt:lpstr>MANAGEMENT OF HOSPITALISED PATIENTS</vt:lpstr>
      <vt:lpstr>MANAGEMENT OF HOSPITALISED PATIENTS</vt:lpstr>
      <vt:lpstr>MANAGEMENT OF HOSPITALISED PATIENTS</vt:lpstr>
      <vt:lpstr>REFERENCES</vt:lpstr>
      <vt:lpstr>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COMPLICATIONS OF DIABETICS</dc:title>
  <dc:creator>Microsoft account</dc:creator>
  <cp:lastModifiedBy>OL</cp:lastModifiedBy>
  <cp:revision>23</cp:revision>
  <dcterms:created xsi:type="dcterms:W3CDTF">2023-05-16T09:32:54Z</dcterms:created>
  <dcterms:modified xsi:type="dcterms:W3CDTF">2023-05-17T03:16:50Z</dcterms:modified>
</cp:coreProperties>
</file>